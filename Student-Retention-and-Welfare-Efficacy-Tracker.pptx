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Lora" panose="020F0502020204030204" pitchFamily="2" charset="0"/>
      <p:regular r:id="rId17"/>
    </p:embeddedFont>
    <p:embeddedFont>
      <p:font typeface="Source Sans 3" panose="020B0604020202020204" charset="0"/>
      <p:regular r:id="rId18"/>
    </p:embeddedFont>
    <p:embeddedFont>
      <p:font typeface="Source Sans 3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766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81620"/>
            <a:ext cx="4383474" cy="284162"/>
          </a:xfrm>
          <a:prstGeom prst="roundRect">
            <a:avLst>
              <a:gd name="adj" fmla="val 7897"/>
            </a:avLst>
          </a:prstGeom>
          <a:solidFill>
            <a:srgbClr val="E2EC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10200" y="637679"/>
            <a:ext cx="4768830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TRANSORG AGENTIQ DATATHON · TRACK 4 – EDUCATION &amp; EDTECH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8086" y="1062930"/>
            <a:ext cx="10795524" cy="77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000"/>
              </a:lnSpc>
              <a:spcAft>
                <a:spcPts val="1550"/>
              </a:spcAft>
              <a:buNone/>
            </a:pP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98086" y="2102644"/>
            <a:ext cx="10795524" cy="549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EduPulse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698086" y="2915543"/>
            <a:ext cx="10795524" cy="1518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Student Retention &amp; Welfare Efficacy Tracker</a:t>
            </a:r>
            <a:endParaRPr lang="en-US" sz="4750" dirty="0"/>
          </a:p>
        </p:txBody>
      </p:sp>
      <p:sp>
        <p:nvSpPr>
          <p:cNvPr id="7" name="Text 5"/>
          <p:cNvSpPr/>
          <p:nvPr/>
        </p:nvSpPr>
        <p:spPr>
          <a:xfrm>
            <a:off x="698086" y="4696520"/>
            <a:ext cx="11405108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i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From Messy Education Data to Actionable Insights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98086" y="5230217"/>
            <a:ext cx="10795524" cy="25400"/>
          </a:xfrm>
          <a:prstGeom prst="roundRect">
            <a:avLst>
              <a:gd name="adj" fmla="val 49999"/>
            </a:avLst>
          </a:prstGeom>
          <a:solidFill>
            <a:srgbClr val="3A363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8086" y="5499497"/>
            <a:ext cx="10795524" cy="77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000"/>
              </a:lnSpc>
              <a:spcAft>
                <a:spcPts val="1550"/>
              </a:spcAft>
              <a:buNone/>
            </a:pPr>
            <a:r>
              <a:rPr lang="en-US" sz="14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Data Dynamos</a:t>
            </a:r>
            <a:endParaRPr lang="en-US" sz="145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Ridhi Raheja — 12414456  ·  Shiven Pratap Singh — 12412435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Problem: Fragmented Education Data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8086" y="941586"/>
            <a:ext cx="114051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State Education Department lacks a unified view of student welfare and retention-related risk across schools.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98086" y="1117302"/>
            <a:ext cx="5372859" cy="695027"/>
          </a:xfrm>
          <a:prstGeom prst="roundRect">
            <a:avLst>
              <a:gd name="adj" fmla="val 2153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97798" y="1217017"/>
            <a:ext cx="299137" cy="299145"/>
          </a:xfrm>
          <a:prstGeom prst="ellipse">
            <a:avLst/>
          </a:prstGeom>
          <a:solidFill>
            <a:srgbClr val="3851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0048" y="1299170"/>
            <a:ext cx="134636" cy="134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7798" y="1565970"/>
            <a:ext cx="5173434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Student Attendance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120751" y="1117302"/>
            <a:ext cx="5372859" cy="695027"/>
          </a:xfrm>
          <a:prstGeom prst="roundRect">
            <a:avLst>
              <a:gd name="adj" fmla="val 2153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220463" y="1217017"/>
            <a:ext cx="299137" cy="299145"/>
          </a:xfrm>
          <a:prstGeom prst="ellipse">
            <a:avLst/>
          </a:prstGeom>
          <a:solidFill>
            <a:srgbClr val="3851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2713" y="1299170"/>
            <a:ext cx="134636" cy="1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20463" y="1565970"/>
            <a:ext cx="5173434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Academic Performance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98086" y="1862138"/>
            <a:ext cx="5372859" cy="695027"/>
          </a:xfrm>
          <a:prstGeom prst="roundRect">
            <a:avLst>
              <a:gd name="adj" fmla="val 2153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97798" y="1961852"/>
            <a:ext cx="299137" cy="299145"/>
          </a:xfrm>
          <a:prstGeom prst="ellipse">
            <a:avLst/>
          </a:prstGeom>
          <a:solidFill>
            <a:srgbClr val="3851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0048" y="2044005"/>
            <a:ext cx="134636" cy="134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7798" y="2310805"/>
            <a:ext cx="5173434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Mid-Day Meal Procurement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120751" y="1862138"/>
            <a:ext cx="5372859" cy="695027"/>
          </a:xfrm>
          <a:prstGeom prst="roundRect">
            <a:avLst>
              <a:gd name="adj" fmla="val 2153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220463" y="1961852"/>
            <a:ext cx="299137" cy="299145"/>
          </a:xfrm>
          <a:prstGeom prst="ellipse">
            <a:avLst/>
          </a:prstGeom>
          <a:solidFill>
            <a:srgbClr val="3851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2713" y="2044005"/>
            <a:ext cx="134636" cy="134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20463" y="2310805"/>
            <a:ext cx="5173434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School Infrastructure</a:t>
            </a:r>
            <a:endParaRPr lang="en-US" sz="9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086" y="2669282"/>
            <a:ext cx="5276123" cy="527625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223836" y="5127923"/>
            <a:ext cx="5276123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Source data contained duplicates, inconsistent IDs, proxy anomalies, mixed grading scales, and messy boolean values. EduPulse transforms these fragmented records into a validated analytics pipeline, interactive dashboard, and natural-language insight system.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Rescue: Turning Messy Data into Reliable Data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20" y="941586"/>
            <a:ext cx="10449755" cy="39213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14221" y="3919912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27860" y="3919912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Validation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352294" y="3919912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Cleaning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376729" y="3919912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Profiling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57981" y="3919912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Raw Data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98086" y="4918968"/>
            <a:ext cx="114051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dataset was profiled, cleaned, and validated before integration into the school-level analytics layer.</a:t>
            </a:r>
            <a:endParaRPr lang="en-US" sz="7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086" y="5094684"/>
          <a:ext cx="10795524" cy="1184248"/>
        </p:xfrm>
        <a:graphic>
          <a:graphicData uri="http://schemas.openxmlformats.org/drawingml/2006/table">
            <a:tbl>
              <a:tblPr/>
              <a:tblGrid>
                <a:gridCol w="2698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88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8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88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Dataset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Raw Rows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Cleaned Rows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Rows Removed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4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School Master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618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600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18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4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Student Attendance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20,800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20,000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800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4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Test Scores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8,000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8,000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4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MDM Procurement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12,360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12,000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360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Infrastructure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3,150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3,000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150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99739" marR="99739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98086" y="6347718"/>
            <a:ext cx="10795524" cy="264120"/>
          </a:xfrm>
          <a:prstGeom prst="roundRect">
            <a:avLst>
              <a:gd name="adj" fmla="val 5664"/>
            </a:avLst>
          </a:prstGeom>
          <a:solidFill>
            <a:srgbClr val="E2ECD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798" y="6422430"/>
            <a:ext cx="124616" cy="997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2126" y="6422430"/>
            <a:ext cx="10981356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600 schools</a:t>
            </a:r>
            <a:r>
              <a:rPr lang="en-US" sz="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successfully integrated into the school-level analytics layer. Exact duplicates were removed. Missing values were not blindly imputed — legitimate missingness was retained and flagged.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680"/>
            <a:ext cx="10795524" cy="47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Cleaning, Standardization &amp; Validation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288752"/>
            <a:ext cx="5331882" cy="252759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2487" y="1429345"/>
            <a:ext cx="243080" cy="24308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9155" y="1925637"/>
            <a:ext cx="4969743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Attendance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879155" y="2242939"/>
            <a:ext cx="4969743" cy="1078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1000"/>
              </a:lnSpc>
              <a:buSzPct val="100000"/>
              <a:buChar char="•"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Standardized school IDs and dates</a:t>
            </a:r>
            <a:endParaRPr lang="en-US" sz="1250" dirty="0"/>
          </a:p>
          <a:p>
            <a:pPr marL="254000" indent="-254000" algn="l">
              <a:lnSpc>
                <a:spcPct val="121000"/>
              </a:lnSpc>
              <a:buSzPct val="100000"/>
              <a:buChar char="•"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Rate = present ÷ total × 100</a:t>
            </a:r>
            <a:endParaRPr lang="en-US" sz="1250" dirty="0"/>
          </a:p>
          <a:p>
            <a:pPr marL="254000" indent="-254000" algn="l">
              <a:lnSpc>
                <a:spcPct val="121000"/>
              </a:lnSpc>
              <a:buSzPct val="100000"/>
              <a:buChar char="•"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806 invalid records flagged</a:t>
            </a:r>
            <a:endParaRPr lang="en-US" sz="1250" dirty="0"/>
          </a:p>
          <a:p>
            <a:pPr marL="254000" indent="-254000" algn="l">
              <a:lnSpc>
                <a:spcPct val="121000"/>
              </a:lnSpc>
              <a:buSzPct val="100000"/>
              <a:buChar char="•"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1,068 Sunday proxy records flagged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879155" y="3400227"/>
            <a:ext cx="4969743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Records retained for audit.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1628" y="1288752"/>
            <a:ext cx="5331981" cy="2527598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06029" y="1429345"/>
            <a:ext cx="243080" cy="24308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42698" y="1925637"/>
            <a:ext cx="4969842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Test Scores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6342698" y="2242939"/>
            <a:ext cx="4969842" cy="516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1000"/>
              </a:lnSpc>
              <a:buSzPct val="100000"/>
              <a:buChar char="•"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Percentage, Raw Marks, CGPA → common percentage scale</a:t>
            </a:r>
            <a:endParaRPr lang="en-US" sz="1250" dirty="0"/>
          </a:p>
          <a:p>
            <a:pPr marL="254000" indent="-254000" algn="l">
              <a:lnSpc>
                <a:spcPct val="121000"/>
              </a:lnSpc>
              <a:buSzPct val="100000"/>
              <a:buChar char="•"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6,017 records with percentage values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6342698" y="2838053"/>
            <a:ext cx="4969842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Letter grades were not converted using an invented mapping.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3948013"/>
            <a:ext cx="5331882" cy="1965424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42487" y="4088606"/>
            <a:ext cx="243080" cy="243086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79155" y="4584898"/>
            <a:ext cx="4969743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MDM Procurement</a:t>
            </a:r>
            <a:endParaRPr lang="en-US" sz="1500" dirty="0"/>
          </a:p>
        </p:txBody>
      </p:sp>
      <p:sp>
        <p:nvSpPr>
          <p:cNvPr id="16" name="Text 8"/>
          <p:cNvSpPr/>
          <p:nvPr/>
        </p:nvSpPr>
        <p:spPr>
          <a:xfrm>
            <a:off x="879155" y="4902200"/>
            <a:ext cx="4969743" cy="797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1000"/>
              </a:lnSpc>
              <a:buSzPct val="100000"/>
              <a:buChar char="•"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Grain names standardized</a:t>
            </a:r>
            <a:endParaRPr lang="en-US" sz="1250" dirty="0"/>
          </a:p>
          <a:p>
            <a:pPr marL="254000" indent="-254000" algn="l">
              <a:lnSpc>
                <a:spcPct val="121000"/>
              </a:lnSpc>
              <a:buSzPct val="100000"/>
              <a:buChar char="•"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KG, grams, 50 KG bags → KG</a:t>
            </a:r>
            <a:endParaRPr lang="en-US" sz="1250" dirty="0"/>
          </a:p>
          <a:p>
            <a:pPr marL="254000" indent="-254000" algn="l">
              <a:lnSpc>
                <a:spcPct val="121000"/>
              </a:lnSpc>
              <a:buSzPct val="100000"/>
              <a:buChar char="•"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Missing fields flagged, not imputed</a:t>
            </a:r>
            <a:endParaRPr lang="en-US" sz="12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1628" y="3948013"/>
            <a:ext cx="5331981" cy="1965424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06029" y="4088606"/>
            <a:ext cx="243080" cy="243086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342698" y="4584898"/>
            <a:ext cx="4969842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20" name="Text 10"/>
          <p:cNvSpPr/>
          <p:nvPr/>
        </p:nvSpPr>
        <p:spPr>
          <a:xfrm>
            <a:off x="6342698" y="4902200"/>
            <a:ext cx="4969842" cy="516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1000"/>
              </a:lnSpc>
              <a:buSzPct val="100000"/>
              <a:buChar char="•"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Yes / Y / 1 / Hai / Haan → True</a:t>
            </a:r>
            <a:endParaRPr lang="en-US" sz="1250" dirty="0"/>
          </a:p>
          <a:p>
            <a:pPr marL="254000" indent="-254000" algn="l">
              <a:lnSpc>
                <a:spcPct val="121000"/>
              </a:lnSpc>
              <a:buSzPct val="100000"/>
              <a:buChar char="•"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/ N / 0 / Nahi / Broken → False</a:t>
            </a:r>
            <a:endParaRPr lang="en-US" sz="1250" dirty="0"/>
          </a:p>
        </p:txBody>
      </p:sp>
      <p:sp>
        <p:nvSpPr>
          <p:cNvPr id="21" name="Text 11"/>
          <p:cNvSpPr/>
          <p:nvPr/>
        </p:nvSpPr>
        <p:spPr>
          <a:xfrm>
            <a:off x="6342698" y="5497314"/>
            <a:ext cx="4969842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school IDs validated against School Master.</a:t>
            </a:r>
            <a:endParaRPr lang="en-US" sz="1250" dirty="0"/>
          </a:p>
        </p:txBody>
      </p:sp>
      <p:sp>
        <p:nvSpPr>
          <p:cNvPr id="22" name="Text 12"/>
          <p:cNvSpPr/>
          <p:nvPr/>
        </p:nvSpPr>
        <p:spPr>
          <a:xfrm>
            <a:off x="698086" y="6061571"/>
            <a:ext cx="11405108" cy="24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Before → After:</a:t>
            </a: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2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"sch-0140"</a:t>
            </a: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</a:t>
            </a:r>
            <a:r>
              <a:rPr lang="en-US" sz="12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"SCH0140"</a:t>
            </a: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 ·  </a:t>
            </a:r>
            <a:r>
              <a:rPr lang="en-US" sz="12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"40.7 KGS"</a:t>
            </a: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</a:t>
            </a:r>
            <a:r>
              <a:rPr lang="en-US" sz="12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"40.7 KG"</a:t>
            </a: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 ·  </a:t>
            </a:r>
            <a:r>
              <a:rPr lang="en-US" sz="12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"Hai"</a:t>
            </a: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</a:t>
            </a:r>
            <a:r>
              <a:rPr lang="en-US" sz="12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 ·  </a:t>
            </a:r>
            <a:r>
              <a:rPr lang="en-US" sz="12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"43.2 / 50"</a:t>
            </a: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</a:t>
            </a:r>
            <a:r>
              <a:rPr lang="en-US" sz="12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86.4%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9197"/>
            <a:ext cx="10795524" cy="403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Analytics Layer: From Records to School-Level KPIs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98086" y="1219597"/>
            <a:ext cx="5338827" cy="45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600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698086" y="1811338"/>
            <a:ext cx="5338827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Schools Analyzed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154683" y="1219597"/>
            <a:ext cx="5338927" cy="45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148K</a:t>
            </a:r>
            <a:endParaRPr lang="en-US" sz="3550" dirty="0"/>
          </a:p>
        </p:txBody>
      </p:sp>
      <p:sp>
        <p:nvSpPr>
          <p:cNvPr id="6" name="Text 4"/>
          <p:cNvSpPr/>
          <p:nvPr/>
        </p:nvSpPr>
        <p:spPr>
          <a:xfrm>
            <a:off x="6154683" y="1811338"/>
            <a:ext cx="5338927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Enrolled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54683" y="2069505"/>
            <a:ext cx="5338927" cy="18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148,083 students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98086" y="2511623"/>
            <a:ext cx="5338827" cy="45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81.66%</a:t>
            </a:r>
            <a:endParaRPr lang="en-US" sz="3550" dirty="0"/>
          </a:p>
        </p:txBody>
      </p:sp>
      <p:sp>
        <p:nvSpPr>
          <p:cNvPr id="9" name="Text 7"/>
          <p:cNvSpPr/>
          <p:nvPr/>
        </p:nvSpPr>
        <p:spPr>
          <a:xfrm>
            <a:off x="698086" y="3103364"/>
            <a:ext cx="5338827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Avg Attendance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54683" y="2511623"/>
            <a:ext cx="5338927" cy="45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67.26%</a:t>
            </a:r>
            <a:endParaRPr lang="en-US" sz="3550" dirty="0"/>
          </a:p>
        </p:txBody>
      </p:sp>
      <p:sp>
        <p:nvSpPr>
          <p:cNvPr id="11" name="Text 9"/>
          <p:cNvSpPr/>
          <p:nvPr/>
        </p:nvSpPr>
        <p:spPr>
          <a:xfrm>
            <a:off x="6154683" y="3103364"/>
            <a:ext cx="5338927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Avg Test Score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8086" y="3562052"/>
            <a:ext cx="5338827" cy="45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3.12/5</a:t>
            </a:r>
            <a:endParaRPr lang="en-US" sz="3550" dirty="0"/>
          </a:p>
        </p:txBody>
      </p:sp>
      <p:sp>
        <p:nvSpPr>
          <p:cNvPr id="13" name="Text 11"/>
          <p:cNvSpPr/>
          <p:nvPr/>
        </p:nvSpPr>
        <p:spPr>
          <a:xfrm>
            <a:off x="698086" y="4153793"/>
            <a:ext cx="5338827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Avg Facility Count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154683" y="3562052"/>
            <a:ext cx="5338927" cy="45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23.46</a:t>
            </a:r>
            <a:endParaRPr lang="en-US" sz="3550" dirty="0"/>
          </a:p>
        </p:txBody>
      </p:sp>
      <p:sp>
        <p:nvSpPr>
          <p:cNvPr id="15" name="Text 13"/>
          <p:cNvSpPr/>
          <p:nvPr/>
        </p:nvSpPr>
        <p:spPr>
          <a:xfrm>
            <a:off x="6154683" y="4153793"/>
            <a:ext cx="5338927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Avg Risk Indicator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98086" y="4555728"/>
            <a:ext cx="5230483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Attendance Anomalies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8086" y="4851598"/>
            <a:ext cx="5230483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1,068 Sunday 100% proxy-attendance records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806 invalid attendance records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8086" y="5348883"/>
            <a:ext cx="5230483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Mid-Day Meal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8086" y="5644753"/>
            <a:ext cx="5230483" cy="621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291,046.90 KG total grain quantity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₹27.92M total procurement cost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49.92% average paid percentage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69476" y="4555728"/>
            <a:ext cx="5230483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Infrastructure Coverage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69476" y="4851598"/>
            <a:ext cx="5230483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598 schools have infrastructure records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 schools do not have infrastructure records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Retention Risk Indicator: Explainable Analytical Framework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698086" y="941586"/>
            <a:ext cx="10795524" cy="264120"/>
          </a:xfrm>
          <a:prstGeom prst="roundRect">
            <a:avLst>
              <a:gd name="adj" fmla="val 5664"/>
            </a:avLst>
          </a:prstGeom>
          <a:solidFill>
            <a:srgbClr val="E2ECD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798" y="1016298"/>
            <a:ext cx="124616" cy="997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2126" y="1016298"/>
            <a:ext cx="10981356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dataset does not contain an actual dropout label. EduPulse does </a:t>
            </a:r>
            <a:r>
              <a:rPr lang="en-US" sz="7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not</a:t>
            </a:r>
            <a:r>
              <a:rPr lang="en-US" sz="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predict dropout probability. The Retention Risk Indicator is an analytical measure to identify schools that may require attention.</a:t>
            </a:r>
            <a:endParaRPr lang="en-US" sz="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9749" y="1261765"/>
            <a:ext cx="7292098" cy="49333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14596" y="3076998"/>
            <a:ext cx="1327821" cy="1142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Composite Retention Risk Indicator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399074" y="4766502"/>
            <a:ext cx="1975369" cy="571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Proxy Attendance Risk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399074" y="5424020"/>
            <a:ext cx="1975369" cy="182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proxy attendance rate %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2769751" y="4818288"/>
            <a:ext cx="1975369" cy="285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Academic Risk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2769751" y="5190228"/>
            <a:ext cx="1975369" cy="36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100 − average test score %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769751" y="1749819"/>
            <a:ext cx="1975369" cy="571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Infrastructure Risk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769751" y="2407336"/>
            <a:ext cx="1975369" cy="36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(5 − avg facilities/5) × 100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411725" y="1892691"/>
            <a:ext cx="1975369" cy="285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Attendance Risk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411725" y="2264632"/>
            <a:ext cx="1975369" cy="36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100 − average attendance %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98086" y="6251178"/>
            <a:ext cx="114051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component is calculated independently and combined as the mean of available risk components.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98086" y="6426895"/>
            <a:ext cx="3565237" cy="495598"/>
          </a:xfrm>
          <a:prstGeom prst="roundRect">
            <a:avLst>
              <a:gd name="adj" fmla="val 3019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797798" y="6526609"/>
            <a:ext cx="336581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Highest Observed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97798" y="6703120"/>
            <a:ext cx="3365813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39.53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4313130" y="6426895"/>
            <a:ext cx="3565337" cy="495598"/>
          </a:xfrm>
          <a:prstGeom prst="roundRect">
            <a:avLst>
              <a:gd name="adj" fmla="val 3019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412842" y="6526609"/>
            <a:ext cx="3365912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Average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412842" y="6703120"/>
            <a:ext cx="3365912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23.46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7928273" y="6426895"/>
            <a:ext cx="3565337" cy="495598"/>
          </a:xfrm>
          <a:prstGeom prst="roundRect">
            <a:avLst>
              <a:gd name="adj" fmla="val 3019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8027985" y="6526609"/>
            <a:ext cx="3365912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Lowest Observed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8027985" y="6703120"/>
            <a:ext cx="3365912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11.54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2216"/>
            <a:ext cx="10795524" cy="339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EduPulse Interactive Dashboard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096169"/>
            <a:ext cx="3595498" cy="3595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81311" y="2133699"/>
            <a:ext cx="6918549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Dashboard Modules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581311" y="2369741"/>
            <a:ext cx="6918549" cy="1327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Executive Command Center</a:t>
            </a:r>
            <a:endParaRPr lang="en-US" sz="900" dirty="0"/>
          </a:p>
          <a:p>
            <a:pPr marL="182880" indent="-182880" algn="l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Academic &amp; Attendance</a:t>
            </a:r>
            <a:endParaRPr lang="en-US" sz="900" dirty="0"/>
          </a:p>
          <a:p>
            <a:pPr marL="182880" indent="-182880" algn="l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Infrastructure &amp; Welfare</a:t>
            </a:r>
            <a:endParaRPr lang="en-US" sz="900" dirty="0"/>
          </a:p>
          <a:p>
            <a:pPr marL="182880" indent="-182880" algn="l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School 360°</a:t>
            </a:r>
            <a:endParaRPr lang="en-US" sz="900" dirty="0"/>
          </a:p>
          <a:p>
            <a:pPr marL="182880" indent="-182880" algn="l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Executive Memo</a:t>
            </a:r>
            <a:endParaRPr lang="en-US" sz="900" dirty="0"/>
          </a:p>
          <a:p>
            <a:pPr marL="182880" indent="-182880" algn="l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Rescue &amp; Audit</a:t>
            </a:r>
            <a:endParaRPr lang="en-US" sz="900" dirty="0"/>
          </a:p>
          <a:p>
            <a:pPr marL="182880" indent="-182880" algn="l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Policy Impact Simulator</a:t>
            </a:r>
            <a:endParaRPr lang="en-US" sz="900" dirty="0"/>
          </a:p>
          <a:p>
            <a:pPr marL="182880" indent="-182880" algn="l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Ask EduPulse AI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4841577"/>
            <a:ext cx="5364425" cy="6109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6873" y="4969570"/>
            <a:ext cx="5057648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Attendance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76873" y="5179020"/>
            <a:ext cx="5057648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Average attendance across schools = </a:t>
            </a:r>
            <a:r>
              <a:rPr lang="en-US" sz="9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81.66%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9085" y="4841577"/>
            <a:ext cx="5364524" cy="61098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07873" y="4969570"/>
            <a:ext cx="5057748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Infrastructure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6307873" y="5179020"/>
            <a:ext cx="5057748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Electricity available in </a:t>
            </a:r>
            <a:r>
              <a:rPr lang="en-US" sz="9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405 of 541</a:t>
            </a: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schools with known status. Playground present in </a:t>
            </a:r>
            <a:r>
              <a:rPr lang="en-US" sz="9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260 of 526</a:t>
            </a: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schools.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5519142"/>
            <a:ext cx="5364425" cy="7565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6873" y="5647134"/>
            <a:ext cx="5057648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Academic Association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876873" y="5856585"/>
            <a:ext cx="5057648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Attendance vs. test score Pearson correlation = </a:t>
            </a:r>
            <a:r>
              <a:rPr lang="en-US" sz="9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−0.002</a:t>
            </a: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indicating essentially no linear association.</a:t>
            </a:r>
            <a:endParaRPr lang="en-US" sz="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29085" y="5519142"/>
            <a:ext cx="5364524" cy="7565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307873" y="5647134"/>
            <a:ext cx="5057748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Electricity Comparison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6307873" y="5856585"/>
            <a:ext cx="5057748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With electricity: </a:t>
            </a:r>
            <a:r>
              <a:rPr lang="en-US" sz="9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67.45%</a:t>
            </a: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avg test score. Without: </a:t>
            </a:r>
            <a:r>
              <a:rPr lang="en-US" sz="9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67.29%</a:t>
            </a: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Difference: </a:t>
            </a:r>
            <a:r>
              <a:rPr lang="en-US" sz="9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0.16</a:t>
            </a: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percentage points — an observed comparison, not a causal effect.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Ask EduPulse AI: Natural Language to Visual Insight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391" y="941586"/>
            <a:ext cx="8340913" cy="57481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34329" y="4518283"/>
            <a:ext cx="2279326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Question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110375" y="2122510"/>
            <a:ext cx="2285905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Intent Detection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656464" y="5225224"/>
            <a:ext cx="2279326" cy="285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&amp; Column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679739" y="2757930"/>
            <a:ext cx="2279326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Chart Selection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98086" y="6745784"/>
            <a:ext cx="114051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Users ask business questions in natural language; the system maps each question to an analytical operation and visualization.</a:t>
            </a:r>
            <a:endParaRPr lang="en-US" sz="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6921500"/>
            <a:ext cx="3565237" cy="615255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3130" y="6921500"/>
            <a:ext cx="3565337" cy="61525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8273" y="6921500"/>
            <a:ext cx="3565337" cy="61525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086" y="7586563"/>
            <a:ext cx="5372859" cy="615255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0751" y="7586563"/>
            <a:ext cx="5372859" cy="615255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698086" y="8257877"/>
            <a:ext cx="10795524" cy="264120"/>
          </a:xfrm>
          <a:prstGeom prst="roundRect">
            <a:avLst>
              <a:gd name="adj" fmla="val 5664"/>
            </a:avLst>
          </a:prstGeom>
          <a:solidFill>
            <a:srgbClr val="E2ECD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798" y="8332589"/>
            <a:ext cx="124616" cy="99715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022126" y="8332589"/>
            <a:ext cx="10981356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Graph-First Approach:</a:t>
            </a:r>
            <a:r>
              <a:rPr lang="en-US" sz="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Trend → Line · Comparison → Bar · Relationship → Scatter · Ranking → Ranked · Anomaly → Table. Uses a </a:t>
            </a:r>
            <a:r>
              <a:rPr lang="en-US" sz="7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deterministic intent engine</a:t>
            </a:r>
            <a:r>
              <a:rPr lang="en-US" sz="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reproducible and auditable. Architecture supports future LLM integration.</a:t>
            </a:r>
            <a:endParaRPr lang="en-US" sz="750" dirty="0"/>
          </a:p>
        </p:txBody>
      </p:sp>
      <p:sp>
        <p:nvSpPr>
          <p:cNvPr id="17" name="Text 8"/>
          <p:cNvSpPr/>
          <p:nvPr/>
        </p:nvSpPr>
        <p:spPr>
          <a:xfrm>
            <a:off x="797798" y="7021215"/>
            <a:ext cx="336581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"Show me the attendance trend over time."</a:t>
            </a:r>
            <a:endParaRPr lang="en-US" sz="900" dirty="0"/>
          </a:p>
        </p:txBody>
      </p:sp>
      <p:sp>
        <p:nvSpPr>
          <p:cNvPr id="18" name="Text 9"/>
          <p:cNvSpPr/>
          <p:nvPr/>
        </p:nvSpPr>
        <p:spPr>
          <a:xfrm>
            <a:off x="797798" y="7197725"/>
            <a:ext cx="3365813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Line Chart</a:t>
            </a:r>
            <a:endParaRPr lang="en-US" sz="750" dirty="0"/>
          </a:p>
        </p:txBody>
      </p:sp>
      <p:sp>
        <p:nvSpPr>
          <p:cNvPr id="19" name="Text 10"/>
          <p:cNvSpPr/>
          <p:nvPr/>
        </p:nvSpPr>
        <p:spPr>
          <a:xfrm>
            <a:off x="4412842" y="7021215"/>
            <a:ext cx="3365912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"Compare average test scores by district."</a:t>
            </a:r>
            <a:endParaRPr lang="en-US" sz="900" dirty="0"/>
          </a:p>
        </p:txBody>
      </p:sp>
      <p:sp>
        <p:nvSpPr>
          <p:cNvPr id="20" name="Text 11"/>
          <p:cNvSpPr/>
          <p:nvPr/>
        </p:nvSpPr>
        <p:spPr>
          <a:xfrm>
            <a:off x="4412842" y="7197725"/>
            <a:ext cx="3365912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Bar Chart</a:t>
            </a:r>
            <a:endParaRPr lang="en-US" sz="750" dirty="0"/>
          </a:p>
        </p:txBody>
      </p:sp>
      <p:sp>
        <p:nvSpPr>
          <p:cNvPr id="21" name="Text 12"/>
          <p:cNvSpPr/>
          <p:nvPr/>
        </p:nvSpPr>
        <p:spPr>
          <a:xfrm>
            <a:off x="8027985" y="7021215"/>
            <a:ext cx="3365912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"Show the top 10 schools by retention risk."</a:t>
            </a:r>
            <a:endParaRPr lang="en-US" sz="900" dirty="0"/>
          </a:p>
        </p:txBody>
      </p:sp>
      <p:sp>
        <p:nvSpPr>
          <p:cNvPr id="22" name="Text 13"/>
          <p:cNvSpPr/>
          <p:nvPr/>
        </p:nvSpPr>
        <p:spPr>
          <a:xfrm>
            <a:off x="8027985" y="7197725"/>
            <a:ext cx="3365912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Ranked Bar Chart</a:t>
            </a:r>
            <a:endParaRPr lang="en-US" sz="750" dirty="0"/>
          </a:p>
        </p:txBody>
      </p:sp>
      <p:sp>
        <p:nvSpPr>
          <p:cNvPr id="23" name="Text 14"/>
          <p:cNvSpPr/>
          <p:nvPr/>
        </p:nvSpPr>
        <p:spPr>
          <a:xfrm>
            <a:off x="797798" y="7686278"/>
            <a:ext cx="5173434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"Show the relationship between attendance and test scores."</a:t>
            </a:r>
            <a:endParaRPr lang="en-US" sz="900" dirty="0"/>
          </a:p>
        </p:txBody>
      </p:sp>
      <p:sp>
        <p:nvSpPr>
          <p:cNvPr id="24" name="Text 15"/>
          <p:cNvSpPr/>
          <p:nvPr/>
        </p:nvSpPr>
        <p:spPr>
          <a:xfrm>
            <a:off x="797798" y="7862788"/>
            <a:ext cx="5173434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Scatter Plot</a:t>
            </a:r>
            <a:endParaRPr lang="en-US" sz="750" dirty="0"/>
          </a:p>
        </p:txBody>
      </p:sp>
      <p:sp>
        <p:nvSpPr>
          <p:cNvPr id="25" name="Text 16"/>
          <p:cNvSpPr/>
          <p:nvPr/>
        </p:nvSpPr>
        <p:spPr>
          <a:xfrm>
            <a:off x="6220463" y="7686278"/>
            <a:ext cx="5173434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"Show schools with proxy attendance above 5%."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6220463" y="7862788"/>
            <a:ext cx="5173434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Anomaly Table / Chart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EduPulse System Architecture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941586"/>
            <a:ext cx="10795524" cy="46631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74175" y="4474253"/>
            <a:ext cx="1602943" cy="274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Profiling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3274175" y="4831895"/>
            <a:ext cx="1602943" cy="350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Assess quality &amp; distributions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390118" y="4649424"/>
            <a:ext cx="1602942" cy="274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Validation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90118" y="5007066"/>
            <a:ext cx="1602942" cy="17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Rule-based checks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21313" y="1362362"/>
            <a:ext cx="1602942" cy="274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Raw Data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221313" y="1720004"/>
            <a:ext cx="1602942" cy="175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CSV/Excel ingestion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381834" y="1362362"/>
            <a:ext cx="1602942" cy="549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Integration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381834" y="1994602"/>
            <a:ext cx="1602942" cy="350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Merge school-level sources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357692" y="1362362"/>
            <a:ext cx="1602942" cy="274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Cleaning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357692" y="1720004"/>
            <a:ext cx="1602942" cy="350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450" dirty="0">
                <a:latin typeface="Source Sans 3" panose="020B0604020202020204" charset="0"/>
              </a:rPr>
              <a:t>Normalize, standardize &amp; flag missing values</a:t>
            </a:r>
          </a:p>
        </p:txBody>
      </p:sp>
      <p:sp>
        <p:nvSpPr>
          <p:cNvPr id="14" name="Text 11"/>
          <p:cNvSpPr/>
          <p:nvPr/>
        </p:nvSpPr>
        <p:spPr>
          <a:xfrm>
            <a:off x="698086" y="5710634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98086" y="5907087"/>
            <a:ext cx="5276123" cy="667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· Pandas · NumPy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Streamlit · Plotly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CSV / Excel data processing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Natural-language intent detection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Dynamic chart generation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223836" y="5710634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Architecture Principles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23836" y="5907087"/>
            <a:ext cx="5276123" cy="667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Reproducible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Auditable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Modular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School-level integrated analytics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Explainable business metrics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34305"/>
            <a:ext cx="10795524" cy="403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From Messy Data to Actionable Education Insights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226145"/>
            <a:ext cx="274234" cy="2742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1618159"/>
            <a:ext cx="5338827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Messy Data Rescue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4683" y="1226145"/>
            <a:ext cx="274234" cy="2742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54683" y="1618159"/>
            <a:ext cx="5338927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Unified School Analytics</a:t>
            </a:r>
            <a:endParaRPr lang="en-US" sz="1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2008287"/>
            <a:ext cx="274234" cy="27424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98086" y="2400300"/>
            <a:ext cx="5338827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Interactive Dashboard</a:t>
            </a:r>
            <a:endParaRPr lang="en-US" sz="12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4683" y="2008287"/>
            <a:ext cx="274234" cy="27424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154683" y="2400300"/>
            <a:ext cx="5338927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Explainable Risk Indicator</a:t>
            </a:r>
            <a:endParaRPr lang="en-US" sz="12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086" y="2790428"/>
            <a:ext cx="274234" cy="27424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98086" y="3182441"/>
            <a:ext cx="5338827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Graph-First AI Queries</a:t>
            </a:r>
            <a:endParaRPr lang="en-US" sz="12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4683" y="2790428"/>
            <a:ext cx="274234" cy="274241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154683" y="3182441"/>
            <a:ext cx="5338927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Policy Simulator</a:t>
            </a:r>
            <a:endParaRPr lang="en-US" sz="1250" dirty="0"/>
          </a:p>
        </p:txBody>
      </p:sp>
      <p:sp>
        <p:nvSpPr>
          <p:cNvPr id="15" name="Text 7"/>
          <p:cNvSpPr/>
          <p:nvPr/>
        </p:nvSpPr>
        <p:spPr>
          <a:xfrm>
            <a:off x="698086" y="3584377"/>
            <a:ext cx="5230483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EduPulse Enables</a:t>
            </a:r>
            <a:endParaRPr lang="en-US" sz="1250" dirty="0"/>
          </a:p>
        </p:txBody>
      </p:sp>
      <p:sp>
        <p:nvSpPr>
          <p:cNvPr id="16" name="Text 8"/>
          <p:cNvSpPr/>
          <p:nvPr/>
        </p:nvSpPr>
        <p:spPr>
          <a:xfrm>
            <a:off x="698086" y="3880247"/>
            <a:ext cx="5230483" cy="1492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Identify schools requiring attention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Monitor attendance anomalies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Compare academic performance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Identify infrastructure gaps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Monitor Mid-Day Meal procurement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Explore school-level retention risk indicators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Ask questions using natural language</a:t>
            </a:r>
            <a:endParaRPr lang="en-US" sz="1050" dirty="0"/>
          </a:p>
        </p:txBody>
      </p:sp>
      <p:sp>
        <p:nvSpPr>
          <p:cNvPr id="17" name="Text 9"/>
          <p:cNvSpPr/>
          <p:nvPr/>
        </p:nvSpPr>
        <p:spPr>
          <a:xfrm>
            <a:off x="6269476" y="3584377"/>
            <a:ext cx="5230483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Future Scope</a:t>
            </a:r>
            <a:endParaRPr lang="en-US" sz="1250" dirty="0"/>
          </a:p>
        </p:txBody>
      </p:sp>
      <p:sp>
        <p:nvSpPr>
          <p:cNvPr id="18" name="Text 10"/>
          <p:cNvSpPr/>
          <p:nvPr/>
        </p:nvSpPr>
        <p:spPr>
          <a:xfrm>
            <a:off x="6269476" y="3880247"/>
            <a:ext cx="5230483" cy="1056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Integrate historical dropout/retention labels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validated ML-based risk models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external LLM for broader queries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automated alerts and intervention tracking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Expand agent to additional education datasets</a:t>
            </a:r>
            <a:endParaRPr lang="en-US" sz="1050" dirty="0"/>
          </a:p>
        </p:txBody>
      </p:sp>
      <p:sp>
        <p:nvSpPr>
          <p:cNvPr id="19" name="Text 11"/>
          <p:cNvSpPr/>
          <p:nvPr/>
        </p:nvSpPr>
        <p:spPr>
          <a:xfrm>
            <a:off x="903761" y="5618262"/>
            <a:ext cx="11199433" cy="18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EduPulse transforms fragmented education data into a single, explainable view for monitoring student welfare and supporting data-driven decisions.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698086" y="5512197"/>
            <a:ext cx="19050" cy="397173"/>
          </a:xfrm>
          <a:prstGeom prst="roundRect">
            <a:avLst>
              <a:gd name="adj" fmla="val 49999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3"/>
          <p:cNvSpPr/>
          <p:nvPr/>
        </p:nvSpPr>
        <p:spPr>
          <a:xfrm>
            <a:off x="698086" y="6015434"/>
            <a:ext cx="3214210" cy="208260"/>
          </a:xfrm>
          <a:prstGeom prst="roundRect">
            <a:avLst>
              <a:gd name="adj" fmla="val 7902"/>
            </a:avLst>
          </a:prstGeom>
          <a:noFill/>
          <a:ln w="6350">
            <a:solidFill>
              <a:srgbClr val="3851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4"/>
          <p:cNvSpPr/>
          <p:nvPr/>
        </p:nvSpPr>
        <p:spPr>
          <a:xfrm>
            <a:off x="780336" y="6056511"/>
            <a:ext cx="3659294" cy="12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TRANSORG AGENTIQ DATATHON · TRACK 4 – EDUCATION &amp; EDTECH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959</Words>
  <Application>Microsoft Office PowerPoint</Application>
  <PresentationFormat>Widescreen</PresentationFormat>
  <Paragraphs>198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Source Sans 3</vt:lpstr>
      <vt:lpstr>Source Sans 3 Bold</vt:lpstr>
      <vt:lpstr>Consolas</vt:lpstr>
      <vt:lpstr>Arial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Ridhi</dc:creator>
  <cp:lastModifiedBy>RIDHI RAHEJA</cp:lastModifiedBy>
  <cp:revision>2</cp:revision>
  <dcterms:created xsi:type="dcterms:W3CDTF">2026-09-16T16:59:51Z</dcterms:created>
  <dcterms:modified xsi:type="dcterms:W3CDTF">2026-09-16T17:06:21Z</dcterms:modified>
</cp:coreProperties>
</file>